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ac8d9238b74d63" /><Relationship Type="http://schemas.openxmlformats.org/officeDocument/2006/relationships/extended-properties" Target="/docProps/app.xml" Id="R4ffd74fb22d749b6" /><Relationship Type="http://schemas.openxmlformats.org/officeDocument/2006/relationships/officeDocument" Target="/ppt/presentation.xml" Id="Ra4649cd16f79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09c75cf064a41"/>
  </p:sldMasterIdLst>
  <p:notesMasterIdLst>
    <p:notesMasterId xmlns:r="http://schemas.openxmlformats.org/officeDocument/2006/relationships" r:id="Rbf01cba229df4e37"/>
  </p:notesMasterIdLst>
  <p:sldIdLst>
    <p:sldId xmlns:r="http://schemas.openxmlformats.org/officeDocument/2006/relationships" id="256" r:id="Rc94afefbcddb47a5"/>
    <p:sldId xmlns:r="http://schemas.openxmlformats.org/officeDocument/2006/relationships" id="257" r:id="Rb065f2992c244fc5"/>
    <p:sldId xmlns:r="http://schemas.openxmlformats.org/officeDocument/2006/relationships" id="258" r:id="R4c80c6ac0c674b27"/>
    <p:sldId xmlns:r="http://schemas.openxmlformats.org/officeDocument/2006/relationships" id="259" r:id="R69d54cd791d847ab"/>
    <p:sldId xmlns:r="http://schemas.openxmlformats.org/officeDocument/2006/relationships" id="260" r:id="R116313b9f9b54d48"/>
    <p:sldId xmlns:r="http://schemas.openxmlformats.org/officeDocument/2006/relationships" id="261" r:id="R7c0fb6ba71b647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1d6e2f76564b38" /><Relationship Type="http://schemas.openxmlformats.org/officeDocument/2006/relationships/slideMaster" Target="/ppt/slideMasters/slideMaster1.xml" Id="R7f209c75cf064a41" /><Relationship Type="http://schemas.openxmlformats.org/officeDocument/2006/relationships/notesMaster" Target="/ppt/notesMasters/notesMaster1.xml" Id="Rbf01cba229df4e37" /><Relationship Type="http://schemas.openxmlformats.org/officeDocument/2006/relationships/presProps" Target="/ppt/presProps.xml" Id="R1b2fa67ef0574336" /><Relationship Type="http://schemas.openxmlformats.org/officeDocument/2006/relationships/tableStyles" Target="/ppt/tableStyles.xml" Id="R6c96149f9061448d" /><Relationship Type="http://schemas.openxmlformats.org/officeDocument/2006/relationships/slide" Target="/ppt/slides/slide1.xml" Id="Rc94afefbcddb47a5" /><Relationship Type="http://schemas.openxmlformats.org/officeDocument/2006/relationships/slide" Target="/ppt/slides/slide2.xml" Id="Rb065f2992c244fc5" /><Relationship Type="http://schemas.openxmlformats.org/officeDocument/2006/relationships/slide" Target="/ppt/slides/slide3.xml" Id="R4c80c6ac0c674b27" /><Relationship Type="http://schemas.openxmlformats.org/officeDocument/2006/relationships/slide" Target="/ppt/slides/slide4.xml" Id="R69d54cd791d847ab" /><Relationship Type="http://schemas.openxmlformats.org/officeDocument/2006/relationships/slide" Target="/ppt/slides/slide5.xml" Id="R116313b9f9b54d48" /><Relationship Type="http://schemas.openxmlformats.org/officeDocument/2006/relationships/slide" Target="/ppt/slides/slide6.xml" Id="R7c0fb6ba71b6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a446321d5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b297bae374567" /><Relationship Type="http://schemas.openxmlformats.org/officeDocument/2006/relationships/notesMaster" Target="/ppt/notesMasters/notesMaster1.xml" Id="Rfad7de9882c44b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89f17ad3fa4c33" /><Relationship Type="http://schemas.openxmlformats.org/officeDocument/2006/relationships/notesMaster" Target="/ppt/notesMasters/notesMaster1.xml" Id="R193580e3a86741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2156bc8bc4473" /><Relationship Type="http://schemas.openxmlformats.org/officeDocument/2006/relationships/notesMaster" Target="/ppt/notesMasters/notesMaster1.xml" Id="R1fb9d8131c364e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9ed53a2624a20" /><Relationship Type="http://schemas.openxmlformats.org/officeDocument/2006/relationships/notesMaster" Target="/ppt/notesMasters/notesMaster1.xml" Id="R962b0489f5124b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4cc2c892d04aab" /><Relationship Type="http://schemas.openxmlformats.org/officeDocument/2006/relationships/notesMaster" Target="/ppt/notesMasters/notesMaster1.xml" Id="Rdc804fd4f96c47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daeda27af44ca2" /><Relationship Type="http://schemas.openxmlformats.org/officeDocument/2006/relationships/notesMaster" Target="/ppt/notesMasters/notesMaster1.xml" Id="Rab88b80a812c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25558bb7f42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0061ccaecc4509" /><Relationship Type="http://schemas.openxmlformats.org/officeDocument/2006/relationships/slideLayout" Target="/ppt/slideLayouts/slideLayout1.xml" Id="R4baf3b67ff2f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af3b67ff2f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7be02c953405b" /><Relationship Type="http://schemas.openxmlformats.org/officeDocument/2006/relationships/notesSlide" Target="/ppt/notesSlides/notesSlide1.xml" Id="R45a5ad713b99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1b24b70a54dac" /><Relationship Type="http://schemas.openxmlformats.org/officeDocument/2006/relationships/notesSlide" Target="/ppt/notesSlides/notesSlide2.xml" Id="R1c4b3846e3534e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8cf64a8894e5c" /><Relationship Type="http://schemas.openxmlformats.org/officeDocument/2006/relationships/notesSlide" Target="/ppt/notesSlides/notesSlide3.xml" Id="R5c4c56eb157847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0b83ef09f4e23" /><Relationship Type="http://schemas.openxmlformats.org/officeDocument/2006/relationships/notesSlide" Target="/ppt/notesSlides/notesSlide4.xml" Id="R77c8075c4d04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1a52451d34dc9" /><Relationship Type="http://schemas.openxmlformats.org/officeDocument/2006/relationships/notesSlide" Target="/ppt/notesSlides/notesSlide5.xml" Id="R119a293ccf48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a093d854e4230" /><Relationship Type="http://schemas.openxmlformats.org/officeDocument/2006/relationships/notesSlide" Target="/ppt/notesSlides/notesSlide6.xml" Id="R17eb1ebe5451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">
            <a:extLst xmlns:a="http://schemas.openxmlformats.org/drawingml/2006/main">
              <a:ext uri="{FF2B5EF4-FFF2-40B4-BE49-F238E27FC236}">
                <a16:creationId xmlns:a16="http://schemas.microsoft.com/office/drawing/2014/main" id="{5F8C5D98-BF71-439F-9CFF-09A866DF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ME / WHY OPENAI / WHY IHH</a:t>
            </a:r>
          </a:p>
        </p:txBody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BCE45C29-D16C-4D20-B10F-F460125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IHH Healthcare: governed AI for international patient operations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D2F1455-F0CF-4FC8-A95F-527D835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 7-minute strategic customer case template for OpenAI SDR interview prep</a:t>
            </a:r>
          </a:p>
        </p:txBody>
      </p:sp>
      <p:sp>
        <p:nvSpPr>
          <p:cNvPr id="4" name="right-field">
            <a:extLst xmlns:a="http://schemas.openxmlformats.org/drawingml/2006/main">
              <a:ext uri="{FF2B5EF4-FFF2-40B4-BE49-F238E27FC236}">
                <a16:creationId xmlns:a16="http://schemas.microsoft.com/office/drawing/2014/main" id="{2324DB21-9029-48F9-B754-BBDC989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3581400" cy="68580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F7F7F7"/>
            </a:solidFill>
            <a:prstDash val="solid"/>
          </a:ln>
        </p:spPr>
      </p:sp>
      <p:sp>
        <p:nvSpPr>
          <p:cNvPr id="5" name="proof-1">
            <a:extLst xmlns:a="http://schemas.openxmlformats.org/drawingml/2006/main">
              <a:ext uri="{FF2B5EF4-FFF2-40B4-BE49-F238E27FC236}">
                <a16:creationId xmlns:a16="http://schemas.microsoft.com/office/drawing/2014/main" id="{BC5BAA8E-B862-41EB-9E52-F8A1D13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57300"/>
            <a:ext cx="297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roof-2">
            <a:extLst xmlns:a="http://schemas.openxmlformats.org/drawingml/2006/main">
              <a:ext uri="{FF2B5EF4-FFF2-40B4-BE49-F238E27FC236}">
                <a16:creationId xmlns:a16="http://schemas.microsoft.com/office/drawing/2014/main" id="{85605A89-0614-4D2D-A67E-FEFCA71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297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roof-3">
            <a:extLst xmlns:a="http://schemas.openxmlformats.org/drawingml/2006/main">
              <a:ext uri="{FF2B5EF4-FFF2-40B4-BE49-F238E27FC236}">
                <a16:creationId xmlns:a16="http://schemas.microsoft.com/office/drawing/2014/main" id="{8A067E80-95F6-4E94-90D2-43483FE6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297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roof-1-text">
            <a:extLst xmlns:a="http://schemas.openxmlformats.org/drawingml/2006/main">
              <a:ext uri="{FF2B5EF4-FFF2-40B4-BE49-F238E27FC236}">
                <a16:creationId xmlns:a16="http://schemas.microsoft.com/office/drawing/2014/main" id="{1F228D6E-EBAC-4AF9-A38B-1AE518D4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Seth angle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APAC enterprise GTM + regulated-buyer judgment</a:t>
            </a:r>
          </a:p>
        </p:txBody>
      </p:sp>
      <p:sp>
        <p:nvSpPr>
          <p:cNvPr id="9" name="proof-2-text">
            <a:extLst xmlns:a="http://schemas.openxmlformats.org/drawingml/2006/main">
              <a:ext uri="{FF2B5EF4-FFF2-40B4-BE49-F238E27FC236}">
                <a16:creationId xmlns:a16="http://schemas.microsoft.com/office/drawing/2014/main" id="{EB4F774D-854B-4FA0-941C-4855792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OpenAI angle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Business-user + builder surfaces, sold by workflow</a:t>
            </a:r>
          </a:p>
        </p:txBody>
      </p:sp>
      <p:sp>
        <p:nvSpPr>
          <p:cNvPr id="10" name="proof-3-text">
            <a:extLst xmlns:a="http://schemas.openxmlformats.org/drawingml/2006/main">
              <a:ext uri="{FF2B5EF4-FFF2-40B4-BE49-F238E27FC236}">
                <a16:creationId xmlns:a16="http://schemas.microsoft.com/office/drawing/2014/main" id="{A3A14C7C-8C24-4D3A-B0D6-8861B7C5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IHH angle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Large APAC healthcare network with digital readiness</a:t>
            </a:r>
          </a:p>
        </p:txBody>
      </p:sp>
      <p:sp>
        <p:nvSpPr>
          <p:cNvPr id="11" name="footer-1">
            <a:extLst xmlns:a="http://schemas.openxmlformats.org/drawingml/2006/main">
              <a:ext uri="{FF2B5EF4-FFF2-40B4-BE49-F238E27FC236}">
                <a16:creationId xmlns:a16="http://schemas.microsoft.com/office/drawing/2014/main" id="{ED29ADD6-487F-49C2-B89C-444767A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Internal prep template - recheck prompt, account facts, and exact OpenAI claims before recording</a:t>
            </a:r>
          </a:p>
        </p:txBody>
      </p:sp>
      <p:sp>
        <p:nvSpPr>
          <p:cNvPr id="1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04F51733-4458-4C82-83CD-560BC014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275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2D5DF77F-0121-4722-A1DD-6F16C989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OPENAI SDR LOOM CASE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D610B5C-1D41-45FF-899C-230408D2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Account point of view: patient operations is the wedge</a:t>
            </a:r>
          </a:p>
        </p:txBody>
      </p:sp>
      <p:sp>
        <p:nvSpPr>
          <p:cNvPr id="3" name="metric-89">
            <a:extLst xmlns:a="http://schemas.openxmlformats.org/drawingml/2006/main">
              <a:ext uri="{FF2B5EF4-FFF2-40B4-BE49-F238E27FC236}">
                <a16:creationId xmlns:a16="http://schemas.microsoft.com/office/drawing/2014/main" id="{5BEE7F4F-AC02-4D77-B811-3E59EED0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metric-190">
            <a:extLst xmlns:a="http://schemas.openxmlformats.org/drawingml/2006/main">
              <a:ext uri="{FF2B5EF4-FFF2-40B4-BE49-F238E27FC236}">
                <a16:creationId xmlns:a16="http://schemas.microsoft.com/office/drawing/2014/main" id="{85C4F048-9113-4A02-8DE9-887AE1C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193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ric-rm">
            <a:extLst xmlns:a="http://schemas.openxmlformats.org/drawingml/2006/main">
              <a:ext uri="{FF2B5EF4-FFF2-40B4-BE49-F238E27FC236}">
                <a16:creationId xmlns:a16="http://schemas.microsoft.com/office/drawing/2014/main" id="{D90D263B-5313-458C-8F20-D809313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193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etric-virtusa">
            <a:extLst xmlns:a="http://schemas.openxmlformats.org/drawingml/2006/main">
              <a:ext uri="{FF2B5EF4-FFF2-40B4-BE49-F238E27FC236}">
                <a16:creationId xmlns:a16="http://schemas.microsoft.com/office/drawing/2014/main" id="{D4896579-C704-41AE-A4A9-23DA7AA0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19300"/>
            <a:ext cx="27241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m1">
            <a:extLst xmlns:a="http://schemas.openxmlformats.org/drawingml/2006/main">
              <a:ext uri="{FF2B5EF4-FFF2-40B4-BE49-F238E27FC236}">
                <a16:creationId xmlns:a16="http://schemas.microsoft.com/office/drawing/2014/main" id="{49F7EAB7-4A80-4DF2-8F88-21BA77DF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89</a:t>
            </a:r>
          </a:p>
        </p:txBody>
      </p:sp>
      <p:sp>
        <p:nvSpPr>
          <p:cNvPr id="8" name="m1b">
            <a:extLst xmlns:a="http://schemas.openxmlformats.org/drawingml/2006/main">
              <a:ext uri="{FF2B5EF4-FFF2-40B4-BE49-F238E27FC236}">
                <a16:creationId xmlns:a16="http://schemas.microsoft.com/office/drawing/2014/main" id="{F993A912-C51D-479E-BD21-4413EEBE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hospitals in 10 countries</a:t>
            </a:r>
          </a:p>
        </p:txBody>
      </p:sp>
      <p:sp>
        <p:nvSpPr>
          <p:cNvPr id="9" name="m2">
            <a:extLst xmlns:a="http://schemas.openxmlformats.org/drawingml/2006/main">
              <a:ext uri="{FF2B5EF4-FFF2-40B4-BE49-F238E27FC236}">
                <a16:creationId xmlns:a16="http://schemas.microsoft.com/office/drawing/2014/main" id="{92C53AB7-A33F-4DDC-AE1D-42B39B5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190</a:t>
            </a:r>
          </a:p>
        </p:txBody>
      </p:sp>
      <p:sp>
        <p:nvSpPr>
          <p:cNvPr id="10" name="m2b">
            <a:extLst xmlns:a="http://schemas.openxmlformats.org/drawingml/2006/main">
              <a:ext uri="{FF2B5EF4-FFF2-40B4-BE49-F238E27FC236}">
                <a16:creationId xmlns:a16="http://schemas.microsoft.com/office/drawing/2014/main" id="{475DD70A-5B5A-4638-8614-C4AE34E5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healthcare facilities</a:t>
            </a:r>
          </a:p>
        </p:txBody>
      </p:sp>
      <p:sp>
        <p:nvSpPr>
          <p:cNvPr id="11" name="m3">
            <a:extLst xmlns:a="http://schemas.openxmlformats.org/drawingml/2006/main">
              <a:ext uri="{FF2B5EF4-FFF2-40B4-BE49-F238E27FC236}">
                <a16:creationId xmlns:a16="http://schemas.microsoft.com/office/drawing/2014/main" id="{DA6D6CEC-C929-4B67-B368-E071873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RM25.7B</a:t>
            </a:r>
          </a:p>
        </p:txBody>
      </p:sp>
      <p:sp>
        <p:nvSpPr>
          <p:cNvPr id="12" name="m3b">
            <a:extLst xmlns:a="http://schemas.openxmlformats.org/drawingml/2006/main">
              <a:ext uri="{FF2B5EF4-FFF2-40B4-BE49-F238E27FC236}">
                <a16:creationId xmlns:a16="http://schemas.microsoft.com/office/drawing/2014/main" id="{307541E9-FFE9-49DF-A9FE-B25B03F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28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FY2025 reported revenue</a:t>
            </a:r>
          </a:p>
        </p:txBody>
      </p:sp>
      <p:sp>
        <p:nvSpPr>
          <p:cNvPr id="13" name="m4">
            <a:extLst xmlns:a="http://schemas.openxmlformats.org/drawingml/2006/main">
              <a:ext uri="{FF2B5EF4-FFF2-40B4-BE49-F238E27FC236}">
                <a16:creationId xmlns:a16="http://schemas.microsoft.com/office/drawing/2014/main" id="{4E03A755-FBEC-40D3-952F-38B7199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GenAI + Agentic AI</a:t>
            </a:r>
          </a:p>
        </p:txBody>
      </p:sp>
      <p:sp>
        <p:nvSpPr>
          <p:cNvPr id="14" name="m4b">
            <a:extLst xmlns:a="http://schemas.openxmlformats.org/drawingml/2006/main">
              <a:ext uri="{FF2B5EF4-FFF2-40B4-BE49-F238E27FC236}">
                <a16:creationId xmlns:a16="http://schemas.microsoft.com/office/drawing/2014/main" id="{08A49D22-F7FD-4D89-A07D-15E514D2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public digital transformation direction with Virtusa</a:t>
            </a:r>
          </a:p>
        </p:txBody>
      </p:sp>
      <p:sp>
        <p:nvSpPr>
          <p:cNvPr id="15" name="thesis">
            <a:extLst xmlns:a="http://schemas.openxmlformats.org/drawingml/2006/main">
              <a:ext uri="{FF2B5EF4-FFF2-40B4-BE49-F238E27FC236}">
                <a16:creationId xmlns:a16="http://schemas.microsoft.com/office/drawing/2014/main" id="{8566FAF8-1AAC-4818-8A18-F123DDCF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Three-year POV: IHH can move from isolated digital initiatives to a governed patient-operations layer across markets.</a:t>
            </a:r>
          </a:p>
        </p:txBody>
      </p:sp>
      <p:sp>
        <p:nvSpPr>
          <p:cNvPr id="16" name="why-now">
            <a:extLst xmlns:a="http://schemas.openxmlformats.org/drawingml/2006/main">
              <a:ext uri="{FF2B5EF4-FFF2-40B4-BE49-F238E27FC236}">
                <a16:creationId xmlns:a16="http://schemas.microsoft.com/office/drawing/2014/main" id="{BD64664F-DACE-4F4D-A22E-861A994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Why now: cross-border demand, multilingual coordination, patient experience pressure, workflow modernization, and an SI path already in motion.</a:t>
            </a:r>
          </a:p>
        </p:txBody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0DD577A1-383F-4155-8E7C-BF087DB2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IHH public pages captured in the case package - final recheck required before recording</a:t>
            </a:r>
          </a:p>
        </p:txBody>
      </p:sp>
      <p:sp>
        <p:nvSpPr>
          <p:cNvPr id="18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C4D9AAD-3368-4AF4-AA78-9CE3B057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6055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0F4F1EDC-A3AE-4B24-9D95-031F0472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OPENAI SDR LOOM CASE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236410-9B99-4909-B42D-A4553FC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High-impact use case: multilingual patient concierge</a:t>
            </a:r>
          </a:p>
        </p:txBody>
      </p:sp>
      <p:sp>
        <p:nvSpPr>
          <p:cNvPr id="3" name="use-case-title">
            <a:extLst xmlns:a="http://schemas.openxmlformats.org/drawingml/2006/main">
              <a:ext uri="{FF2B5EF4-FFF2-40B4-BE49-F238E27FC236}">
                <a16:creationId xmlns:a16="http://schemas.microsoft.com/office/drawing/2014/main" id="{0D54A8EC-9059-46DC-9327-C17A824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Start narrow: international patient inquiry, routing, preparation, and follow-up.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9D0DFE5F-D5C7-4473-97F7-0E92226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step-num-1">
            <a:extLst xmlns:a="http://schemas.openxmlformats.org/drawingml/2006/main">
              <a:ext uri="{FF2B5EF4-FFF2-40B4-BE49-F238E27FC236}">
                <a16:creationId xmlns:a16="http://schemas.microsoft.com/office/drawing/2014/main" id="{C1C63A9E-88D0-4AFB-A951-ECEE1A71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8FB58EC-5B03-4C24-8A6A-575A8C7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Patient asks about a procedure from overseas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C2C4B63-C933-4329-AC17-71EB812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tep-num-2">
            <a:extLst xmlns:a="http://schemas.openxmlformats.org/drawingml/2006/main">
              <a:ext uri="{FF2B5EF4-FFF2-40B4-BE49-F238E27FC236}">
                <a16:creationId xmlns:a16="http://schemas.microsoft.com/office/drawing/2014/main" id="{9C908A31-314A-4265-BA36-09FD56CD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" name="step-text-2">
            <a:extLst xmlns:a="http://schemas.openxmlformats.org/drawingml/2006/main">
              <a:ext uri="{FF2B5EF4-FFF2-40B4-BE49-F238E27FC236}">
                <a16:creationId xmlns:a16="http://schemas.microsoft.com/office/drawing/2014/main" id="{945A5200-A023-4FDF-BCC3-945FDC6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Agent captures language, timing, admin context, and urgency</a:t>
            </a:r>
          </a:p>
        </p:txBody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6B41153E-78E4-4A53-8E98-A16B3B5E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ep-num-3">
            <a:extLst xmlns:a="http://schemas.openxmlformats.org/drawingml/2006/main">
              <a:ext uri="{FF2B5EF4-FFF2-40B4-BE49-F238E27FC236}">
                <a16:creationId xmlns:a16="http://schemas.microsoft.com/office/drawing/2014/main" id="{A7714D06-0B0B-4D7B-B26E-9EE6CCB1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5DE6388-E88B-4A22-AE56-D7D798F1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Retrieves approved hospital, service, specialist, and policy information</a:t>
            </a:r>
          </a:p>
        </p:txBody>
      </p:sp>
      <p:sp>
        <p:nvSpPr>
          <p:cNvPr id="13" name="step-4">
            <a:extLst xmlns:a="http://schemas.openxmlformats.org/drawingml/2006/main">
              <a:ext uri="{FF2B5EF4-FFF2-40B4-BE49-F238E27FC236}">
                <a16:creationId xmlns:a16="http://schemas.microsoft.com/office/drawing/2014/main" id="{8705DA4A-8D77-4462-B177-5417D6C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tep-num-4">
            <a:extLst xmlns:a="http://schemas.openxmlformats.org/drawingml/2006/main">
              <a:ext uri="{FF2B5EF4-FFF2-40B4-BE49-F238E27FC236}">
                <a16:creationId xmlns:a16="http://schemas.microsoft.com/office/drawing/2014/main" id="{A234C442-51F6-4162-B77D-EEC2B05A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5" name="step-text-4">
            <a:extLst xmlns:a="http://schemas.openxmlformats.org/drawingml/2006/main">
              <a:ext uri="{FF2B5EF4-FFF2-40B4-BE49-F238E27FC236}">
                <a16:creationId xmlns:a16="http://schemas.microsoft.com/office/drawing/2014/main" id="{D7A6B363-B25E-46E7-B41E-457625A2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Drafts next steps, schedules follow-up, and escalates clinical questions</a:t>
            </a:r>
          </a:p>
        </p:txBody>
      </p:sp>
      <p:sp>
        <p:nvSpPr>
          <p:cNvPr id="16" name="measure">
            <a:extLst xmlns:a="http://schemas.openxmlformats.org/drawingml/2006/main">
              <a:ext uri="{FF2B5EF4-FFF2-40B4-BE49-F238E27FC236}">
                <a16:creationId xmlns:a16="http://schemas.microsoft.com/office/drawing/2014/main" id="{A6B7B038-9883-4F1F-AD3F-7DBD7E60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Measures: time to first response, inquiry-to-appointment conversion, coordinator capacity, escalation quality, patient satisfaction.</a:t>
            </a:r>
          </a:p>
        </p:txBody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4E563050-5862-4489-940E-44A2B967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Internal prep template - recheck prompt, account facts, and exact OpenAI claims before recording</a:t>
            </a:r>
          </a:p>
        </p:txBody>
      </p:sp>
      <p:sp>
        <p:nvSpPr>
          <p:cNvPr id="18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D527DB99-FF13-4DFC-973B-11F2317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8177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623E327D-00A1-4405-B6D6-F535E666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OPENAI SDR LOOM CASE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402AD57-4A06-415A-A275-B21C7910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How it works: narrow, permissioned, observable</a:t>
            </a:r>
          </a:p>
        </p:txBody>
      </p:sp>
      <p:sp>
        <p:nvSpPr>
          <p:cNvPr id="3" name="arch-0">
            <a:extLst xmlns:a="http://schemas.openxmlformats.org/drawingml/2006/main">
              <a:ext uri="{FF2B5EF4-FFF2-40B4-BE49-F238E27FC236}">
                <a16:creationId xmlns:a16="http://schemas.microsoft.com/office/drawing/2014/main" id="{FF6FED86-5235-4DE6-89D2-DD76BB91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2381250" cy="2819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rch-head-0">
            <a:extLst xmlns:a="http://schemas.openxmlformats.org/drawingml/2006/main">
              <a:ext uri="{FF2B5EF4-FFF2-40B4-BE49-F238E27FC236}">
                <a16:creationId xmlns:a16="http://schemas.microsoft.com/office/drawing/2014/main" id="{9AFB447A-B4A6-43D7-BD32-19F50499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Patient channels</a:t>
            </a:r>
          </a:p>
        </p:txBody>
      </p:sp>
      <p:sp>
        <p:nvSpPr>
          <p:cNvPr id="5" name="arch-body-0">
            <a:extLst xmlns:a="http://schemas.openxmlformats.org/drawingml/2006/main">
              <a:ext uri="{FF2B5EF4-FFF2-40B4-BE49-F238E27FC236}">
                <a16:creationId xmlns:a16="http://schemas.microsoft.com/office/drawing/2014/main" id="{D0C905A4-154B-48E3-B82C-1FEF9D2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Phone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Web form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Email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WhatsApp</a:t>
            </a:r>
          </a:p>
        </p:txBody>
      </p:sp>
      <p:sp>
        <p:nvSpPr>
          <p:cNvPr id="6" name="arrow-0">
            <a:extLst xmlns:a="http://schemas.openxmlformats.org/drawingml/2006/main">
              <a:ext uri="{FF2B5EF4-FFF2-40B4-BE49-F238E27FC236}">
                <a16:creationId xmlns:a16="http://schemas.microsoft.com/office/drawing/2014/main" id="{5332E9B2-9E94-48D9-9A0D-AB1E379D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7" name="arch-1">
            <a:extLst xmlns:a="http://schemas.openxmlformats.org/drawingml/2006/main">
              <a:ext uri="{FF2B5EF4-FFF2-40B4-BE49-F238E27FC236}">
                <a16:creationId xmlns:a16="http://schemas.microsoft.com/office/drawing/2014/main" id="{154DF8B5-4C06-4952-9206-E1EA6659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66900"/>
            <a:ext cx="2381250" cy="2819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rch-head-1">
            <a:extLst xmlns:a="http://schemas.openxmlformats.org/drawingml/2006/main">
              <a:ext uri="{FF2B5EF4-FFF2-40B4-BE49-F238E27FC236}">
                <a16:creationId xmlns:a16="http://schemas.microsoft.com/office/drawing/2014/main" id="{35318229-B9D8-45D3-A148-397320C1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Workflow layer</a:t>
            </a:r>
          </a:p>
        </p:txBody>
      </p:sp>
      <p:sp>
        <p:nvSpPr>
          <p:cNvPr id="9" name="arch-body-1">
            <a:extLst xmlns:a="http://schemas.openxmlformats.org/drawingml/2006/main">
              <a:ext uri="{FF2B5EF4-FFF2-40B4-BE49-F238E27FC236}">
                <a16:creationId xmlns:a16="http://schemas.microsoft.com/office/drawing/2014/main" id="{B76277F0-8F6B-4B99-80AA-62AB5BD2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Concierge agent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Follow-up agent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Human handoff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E9AF9A70-7007-4C80-93B7-C342EA3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1" name="arch-2">
            <a:extLst xmlns:a="http://schemas.openxmlformats.org/drawingml/2006/main">
              <a:ext uri="{FF2B5EF4-FFF2-40B4-BE49-F238E27FC236}">
                <a16:creationId xmlns:a16="http://schemas.microsoft.com/office/drawing/2014/main" id="{4487BED2-6B32-494D-BA3C-4B7B03DE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2381250" cy="2819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head-2">
            <a:extLst xmlns:a="http://schemas.openxmlformats.org/drawingml/2006/main">
              <a:ext uri="{FF2B5EF4-FFF2-40B4-BE49-F238E27FC236}">
                <a16:creationId xmlns:a16="http://schemas.microsoft.com/office/drawing/2014/main" id="{840C4ADC-5F8B-4532-937C-C8EBF0EC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Approved systems</a:t>
            </a:r>
          </a:p>
        </p:txBody>
      </p:sp>
      <p:sp>
        <p:nvSpPr>
          <p:cNvPr id="13" name="arch-body-2">
            <a:extLst xmlns:a="http://schemas.openxmlformats.org/drawingml/2006/main">
              <a:ext uri="{FF2B5EF4-FFF2-40B4-BE49-F238E27FC236}">
                <a16:creationId xmlns:a16="http://schemas.microsoft.com/office/drawing/2014/main" id="{705F141A-1DBE-40CB-84DD-B3C71E9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Service catalog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Specialist directory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Scheduling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Inquiry CRM</a:t>
            </a:r>
          </a:p>
        </p:txBody>
      </p:sp>
      <p:sp>
        <p:nvSpPr>
          <p:cNvPr id="14" name="arrow-2">
            <a:extLst xmlns:a="http://schemas.openxmlformats.org/drawingml/2006/main">
              <a:ext uri="{FF2B5EF4-FFF2-40B4-BE49-F238E27FC236}">
                <a16:creationId xmlns:a16="http://schemas.microsoft.com/office/drawing/2014/main" id="{9906CDB1-0573-462B-A4FA-8826473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5" name="arch-3">
            <a:extLst xmlns:a="http://schemas.openxmlformats.org/drawingml/2006/main">
              <a:ext uri="{FF2B5EF4-FFF2-40B4-BE49-F238E27FC236}">
                <a16:creationId xmlns:a16="http://schemas.microsoft.com/office/drawing/2014/main" id="{3BBF2A24-C068-4644-BA8B-DB7C0E80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381250" cy="2819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6" name="arch-head-3">
            <a:extLst xmlns:a="http://schemas.openxmlformats.org/drawingml/2006/main">
              <a:ext uri="{FF2B5EF4-FFF2-40B4-BE49-F238E27FC236}">
                <a16:creationId xmlns:a16="http://schemas.microsoft.com/office/drawing/2014/main" id="{549464A4-9C49-47E5-85EC-8F4B58F5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OpenAI surfaces</a:t>
            </a:r>
          </a:p>
        </p:txBody>
      </p:sp>
      <p:sp>
        <p:nvSpPr>
          <p:cNvPr id="17" name="arch-body-3">
            <a:extLst xmlns:a="http://schemas.openxmlformats.org/drawingml/2006/main">
              <a:ext uri="{FF2B5EF4-FFF2-40B4-BE49-F238E27FC236}">
                <a16:creationId xmlns:a16="http://schemas.microsoft.com/office/drawing/2014/main" id="{FAE7F3DB-3318-4008-BD8D-E1D2C4F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Realtime if voice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File Search / retrieval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Tools / function calls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Structured outputs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Evals / tracing</a:t>
            </a:r>
          </a:p>
        </p:txBody>
      </p:sp>
      <p:sp>
        <p:nvSpPr>
          <p:cNvPr id="18" name="governance">
            <a:extLst xmlns:a="http://schemas.openxmlformats.org/drawingml/2006/main">
              <a:ext uri="{FF2B5EF4-FFF2-40B4-BE49-F238E27FC236}">
                <a16:creationId xmlns:a16="http://schemas.microsoft.com/office/drawing/2014/main" id="{FFB941FC-38CB-4759-ADF0-C0AEB1D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Governance guardrail: scoped permissions, consent, audit trail, DPO/security review, no diagnosis, human escalation for clinical or high-risk moments.</a:t>
            </a:r>
          </a:p>
        </p:txBody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E5F0C1BD-59CD-402E-BC29-B335E83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Exact deployment, residency, healthcare, and model choices require official/account-specific validation</a:t>
            </a:r>
          </a:p>
        </p:txBody>
      </p:sp>
      <p:sp>
        <p:nvSpPr>
          <p:cNvPr id="20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9B059C5C-FB3B-43C2-AAD7-9598595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1087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901FF442-62F0-4A6C-BA79-07028D39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OPENAI SDR LOOM CASE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E84885E-FDAD-4088-B562-E3A6762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30-day executive engagement plan</a:t>
            </a:r>
          </a:p>
        </p:txBody>
      </p:sp>
      <p:sp>
        <p:nvSpPr>
          <p:cNvPr id="3" name="timeline-rule-0">
            <a:extLst xmlns:a="http://schemas.openxmlformats.org/drawingml/2006/main">
              <a:ext uri="{FF2B5EF4-FFF2-40B4-BE49-F238E27FC236}">
                <a16:creationId xmlns:a16="http://schemas.microsoft.com/office/drawing/2014/main" id="{3BC0C2B2-6CA9-48D6-A334-57A83E21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eriod-0">
            <a:extLst xmlns:a="http://schemas.openxmlformats.org/drawingml/2006/main">
              <a:ext uri="{FF2B5EF4-FFF2-40B4-BE49-F238E27FC236}">
                <a16:creationId xmlns:a16="http://schemas.microsoft.com/office/drawing/2014/main" id="{2B909F27-780B-45B8-BC72-2287286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Days 1-5</a:t>
            </a:r>
          </a:p>
        </p:txBody>
      </p:sp>
      <p:sp>
        <p:nvSpPr>
          <p:cNvPr id="5" name="plan-0">
            <a:extLst xmlns:a="http://schemas.openxmlformats.org/drawingml/2006/main">
              <a:ext uri="{FF2B5EF4-FFF2-40B4-BE49-F238E27FC236}">
                <a16:creationId xmlns:a16="http://schemas.microsoft.com/office/drawing/2014/main" id="{51CD97CE-24C0-4DB4-A814-19426E3D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573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Build account thesis, workflow map, and stakeholder hypothesis</a:t>
            </a:r>
          </a:p>
        </p:txBody>
      </p:sp>
      <p:sp>
        <p:nvSpPr>
          <p:cNvPr id="6" name="timeline-rule-1">
            <a:extLst xmlns:a="http://schemas.openxmlformats.org/drawingml/2006/main">
              <a:ext uri="{FF2B5EF4-FFF2-40B4-BE49-F238E27FC236}">
                <a16:creationId xmlns:a16="http://schemas.microsoft.com/office/drawing/2014/main" id="{8E27E647-4F51-46F0-B038-26D92CF9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iod-1">
            <a:extLst xmlns:a="http://schemas.openxmlformats.org/drawingml/2006/main">
              <a:ext uri="{FF2B5EF4-FFF2-40B4-BE49-F238E27FC236}">
                <a16:creationId xmlns:a16="http://schemas.microsoft.com/office/drawing/2014/main" id="{25709D2D-7D3F-43BB-94ED-81994E7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Days 6-10</a:t>
            </a:r>
          </a:p>
        </p:txBody>
      </p:sp>
      <p:sp>
        <p:nvSpPr>
          <p:cNvPr id="8" name="plan-1">
            <a:extLst xmlns:a="http://schemas.openxmlformats.org/drawingml/2006/main">
              <a:ext uri="{FF2B5EF4-FFF2-40B4-BE49-F238E27FC236}">
                <a16:creationId xmlns:a16="http://schemas.microsoft.com/office/drawing/2014/main" id="{46A543A3-660D-4004-81C0-7DB63106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38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Align with OpenAI AD on proof, approved claims, and first wedge</a:t>
            </a:r>
          </a:p>
        </p:txBody>
      </p:sp>
      <p:sp>
        <p:nvSpPr>
          <p:cNvPr id="9" name="timeline-rule-2">
            <a:extLst xmlns:a="http://schemas.openxmlformats.org/drawingml/2006/main">
              <a:ext uri="{FF2B5EF4-FFF2-40B4-BE49-F238E27FC236}">
                <a16:creationId xmlns:a16="http://schemas.microsoft.com/office/drawing/2014/main" id="{972CDA23-9AC2-4D59-A194-B1FCE3C8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eriod-2">
            <a:extLst xmlns:a="http://schemas.openxmlformats.org/drawingml/2006/main">
              <a:ext uri="{FF2B5EF4-FFF2-40B4-BE49-F238E27FC236}">
                <a16:creationId xmlns:a16="http://schemas.microsoft.com/office/drawing/2014/main" id="{A17FA7F4-354E-4CE0-AB68-F14C76A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Days 11-15</a:t>
            </a:r>
          </a:p>
        </p:txBody>
      </p:sp>
      <p:sp>
        <p:nvSpPr>
          <p:cNvPr id="11" name="plan-2">
            <a:extLst xmlns:a="http://schemas.openxmlformats.org/drawingml/2006/main">
              <a:ext uri="{FF2B5EF4-FFF2-40B4-BE49-F238E27FC236}">
                <a16:creationId xmlns:a16="http://schemas.microsoft.com/office/drawing/2014/main" id="{01E2258E-1B6A-4972-9240-4C50021F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194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Open with patient experience, international services, ops, or digital champion</a:t>
            </a:r>
          </a:p>
        </p:txBody>
      </p:sp>
      <p:sp>
        <p:nvSpPr>
          <p:cNvPr id="12" name="timeline-rule-3">
            <a:extLst xmlns:a="http://schemas.openxmlformats.org/drawingml/2006/main">
              <a:ext uri="{FF2B5EF4-FFF2-40B4-BE49-F238E27FC236}">
                <a16:creationId xmlns:a16="http://schemas.microsoft.com/office/drawing/2014/main" id="{766F5684-ECEC-472E-9DDE-87710551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iod-3">
            <a:extLst xmlns:a="http://schemas.openxmlformats.org/drawingml/2006/main">
              <a:ext uri="{FF2B5EF4-FFF2-40B4-BE49-F238E27FC236}">
                <a16:creationId xmlns:a16="http://schemas.microsoft.com/office/drawing/2014/main" id="{A1F40D01-6CC0-4CCF-90A2-D5D176D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Days 16-22</a:t>
            </a:r>
          </a:p>
        </p:txBody>
      </p:sp>
      <p:sp>
        <p:nvSpPr>
          <p:cNvPr id="14" name="plan-3">
            <a:extLst xmlns:a="http://schemas.openxmlformats.org/drawingml/2006/main">
              <a:ext uri="{FF2B5EF4-FFF2-40B4-BE49-F238E27FC236}">
                <a16:creationId xmlns:a16="http://schemas.microsoft.com/office/drawing/2014/main" id="{1472E557-A469-450E-8495-59010640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005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Multi-thread technology, DPO/security, clinical governance, procurement, SI path</a:t>
            </a:r>
          </a:p>
        </p:txBody>
      </p:sp>
      <p:sp>
        <p:nvSpPr>
          <p:cNvPr id="15" name="timeline-rule-4">
            <a:extLst xmlns:a="http://schemas.openxmlformats.org/drawingml/2006/main">
              <a:ext uri="{FF2B5EF4-FFF2-40B4-BE49-F238E27FC236}">
                <a16:creationId xmlns:a16="http://schemas.microsoft.com/office/drawing/2014/main" id="{574D97E2-37E4-4BD0-81A6-1F753A7A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iod-4">
            <a:extLst xmlns:a="http://schemas.openxmlformats.org/drawingml/2006/main">
              <a:ext uri="{FF2B5EF4-FFF2-40B4-BE49-F238E27FC236}">
                <a16:creationId xmlns:a16="http://schemas.microsoft.com/office/drawing/2014/main" id="{1EDFFF28-0E95-4174-8947-950A1490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Days 23-30</a:t>
            </a:r>
          </a:p>
        </p:txBody>
      </p:sp>
      <p:sp>
        <p:nvSpPr>
          <p:cNvPr id="17" name="plan-4">
            <a:extLst xmlns:a="http://schemas.openxmlformats.org/drawingml/2006/main">
              <a:ext uri="{FF2B5EF4-FFF2-40B4-BE49-F238E27FC236}">
                <a16:creationId xmlns:a16="http://schemas.microsoft.com/office/drawing/2014/main" id="{A321DC1F-B59E-4048-871F-2EB1E02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815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Co-design POC scope, success metrics, risk gates, and next meeting</a:t>
            </a:r>
          </a:p>
        </p:txBody>
      </p:sp>
      <p:sp>
        <p:nvSpPr>
          <p:cNvPr id="18" name="output-panel">
            <a:extLst xmlns:a="http://schemas.openxmlformats.org/drawingml/2006/main">
              <a:ext uri="{FF2B5EF4-FFF2-40B4-BE49-F238E27FC236}">
                <a16:creationId xmlns:a16="http://schemas.microsoft.com/office/drawing/2014/main" id="{092DC656-1372-4427-8237-6A837A9B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038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9" name="output-text">
            <a:extLst xmlns:a="http://schemas.openxmlformats.org/drawingml/2006/main">
              <a:ext uri="{FF2B5EF4-FFF2-40B4-BE49-F238E27FC236}">
                <a16:creationId xmlns:a16="http://schemas.microsoft.com/office/drawing/2014/main" id="{647F8C58-4D30-4F88-BA86-DF20BF3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Output by day 30: a narrow POC with a business metric, data boundary, review path, and expansion thesis.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64A63D7A-DA1B-4116-879E-C820851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Internal prep template - recheck prompt, account facts, and exact OpenAI claims before recording</a:t>
            </a:r>
          </a:p>
        </p:txBody>
      </p:sp>
      <p:sp>
        <p:nvSpPr>
          <p:cNvPr id="2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AFBC88DF-E461-4B08-AA7C-B1EFED45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3977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6">
            <a:extLst xmlns:a="http://schemas.openxmlformats.org/drawingml/2006/main">
              <a:ext uri="{FF2B5EF4-FFF2-40B4-BE49-F238E27FC236}">
                <a16:creationId xmlns:a16="http://schemas.microsoft.com/office/drawing/2014/main" id="{C28F7ACA-8FAD-491C-B53A-4740B86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OPENAI SDR LOOM CASE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BE49809-3F07-405B-94CC-6CA82492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Close: outreach, risks, and why OpenAI</a:t>
            </a:r>
          </a:p>
        </p:txBody>
      </p:sp>
      <p:sp>
        <p:nvSpPr>
          <p:cNvPr id="3" name="outreach">
            <a:extLst xmlns:a="http://schemas.openxmlformats.org/drawingml/2006/main">
              <a:ext uri="{FF2B5EF4-FFF2-40B4-BE49-F238E27FC236}">
                <a16:creationId xmlns:a16="http://schemas.microsoft.com/office/drawing/2014/main" id="{F0075512-E2DA-4FB7-AFD2-5D97D00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25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outreach-head">
            <a:extLst xmlns:a="http://schemas.openxmlformats.org/drawingml/2006/main">
              <a:ext uri="{FF2B5EF4-FFF2-40B4-BE49-F238E27FC236}">
                <a16:creationId xmlns:a16="http://schemas.microsoft.com/office/drawing/2014/main" id="{26BB3A58-DDB8-4324-8187-DEB6CAB8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Outbound message</a:t>
            </a:r>
          </a:p>
        </p:txBody>
      </p:sp>
      <p:sp>
        <p:nvSpPr>
          <p:cNvPr id="5" name="outreach-body">
            <a:extLst xmlns:a="http://schemas.openxmlformats.org/drawingml/2006/main">
              <a:ext uri="{FF2B5EF4-FFF2-40B4-BE49-F238E27FC236}">
                <a16:creationId xmlns:a16="http://schemas.microsoft.com/office/drawing/2014/main" id="{AABBDBB0-C7E5-4A20-9BF9-B448C33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 saw IHH is modernizing technology across key markets, with patient experience and workflow improvement as themes. Would it be useful to compare where OpenAI could help test a narrow, governed POC around international patient coordination?</a:t>
            </a:r>
          </a:p>
        </p:txBody>
      </p:sp>
      <p:sp>
        <p:nvSpPr>
          <p:cNvPr id="6" name="risks">
            <a:extLst xmlns:a="http://schemas.openxmlformats.org/drawingml/2006/main">
              <a:ext uri="{FF2B5EF4-FFF2-40B4-BE49-F238E27FC236}">
                <a16:creationId xmlns:a16="http://schemas.microsoft.com/office/drawing/2014/main" id="{FE152C44-9469-4254-89DE-1B98DAC3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295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isks-head">
            <a:extLst xmlns:a="http://schemas.openxmlformats.org/drawingml/2006/main">
              <a:ext uri="{FF2B5EF4-FFF2-40B4-BE49-F238E27FC236}">
                <a16:creationId xmlns:a16="http://schemas.microsoft.com/office/drawing/2014/main" id="{B762E0AB-52EA-4508-9E2D-C7D8E34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Risks to name early</a:t>
            </a:r>
          </a:p>
        </p:txBody>
      </p:sp>
      <p:sp>
        <p:nvSpPr>
          <p:cNvPr id="8" name="risks-body">
            <a:extLst xmlns:a="http://schemas.openxmlformats.org/drawingml/2006/main">
              <a:ext uri="{FF2B5EF4-FFF2-40B4-BE49-F238E27FC236}">
                <a16:creationId xmlns:a16="http://schemas.microsoft.com/office/drawing/2014/main" id="{07A30322-5EC0-4FC5-BF70-069E1D48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Integration and data boundaries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Patient trust and escalation quality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Clinical accountability and DPO/security review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SI alignment and total cost of ownership</a:t>
            </a:r>
          </a:p>
        </p:txBody>
      </p:sp>
      <p:sp>
        <p:nvSpPr>
          <p:cNvPr id="9" name="why-openai">
            <a:extLst xmlns:a="http://schemas.openxmlformats.org/drawingml/2006/main">
              <a:ext uri="{FF2B5EF4-FFF2-40B4-BE49-F238E27FC236}">
                <a16:creationId xmlns:a16="http://schemas.microsoft.com/office/drawing/2014/main" id="{855F2451-EA13-4D67-93C3-189136A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010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why-head">
            <a:extLst xmlns:a="http://schemas.openxmlformats.org/drawingml/2006/main">
              <a:ext uri="{FF2B5EF4-FFF2-40B4-BE49-F238E27FC236}">
                <a16:creationId xmlns:a16="http://schemas.microsoft.com/office/drawing/2014/main" id="{F917FA1B-0A98-4C09-B42E-618B4B09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Why OpenAI</a:t>
            </a:r>
          </a:p>
        </p:txBody>
      </p:sp>
      <p:sp>
        <p:nvSpPr>
          <p:cNvPr id="11" name="why-body">
            <a:extLst xmlns:a="http://schemas.openxmlformats.org/drawingml/2006/main">
              <a:ext uri="{FF2B5EF4-FFF2-40B4-BE49-F238E27FC236}">
                <a16:creationId xmlns:a16="http://schemas.microsoft.com/office/drawing/2014/main" id="{81436164-32A8-4D44-8999-108B7317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Not a generic better-model pitch: breadth across API, agents, voice, retrieval, structured outputs, evals, and enterprise trust layers lets the account plan start with a workflow, then expand from evidence.</a:t>
            </a:r>
          </a:p>
        </p:txBody>
      </p:sp>
      <p:sp>
        <p:nvSpPr>
          <p:cNvPr id="12" name="standout">
            <a:extLst xmlns:a="http://schemas.openxmlformats.org/drawingml/2006/main">
              <a:ext uri="{FF2B5EF4-FFF2-40B4-BE49-F238E27FC236}">
                <a16:creationId xmlns:a16="http://schemas.microsoft.com/office/drawing/2014/main" id="{94B1DD06-2E02-4996-9280-6A98AFD6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Standout move: use source-backed account intelligence, regulated-buyer judgment, and a stakeholder map before asking for time.</a:t>
            </a:r>
          </a:p>
        </p:txBody>
      </p:sp>
      <p:sp>
        <p:nvSpPr>
          <p:cNvPr id="13" name="footer-6">
            <a:extLst xmlns:a="http://schemas.openxmlformats.org/drawingml/2006/main">
              <a:ext uri="{FF2B5EF4-FFF2-40B4-BE49-F238E27FC236}">
                <a16:creationId xmlns:a16="http://schemas.microsoft.com/office/drawing/2014/main" id="{13BF22E7-A0DB-40A9-A00D-7B88796C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Internal prep template - recheck prompt, account facts, and exact OpenAI claims before recording</a:t>
            </a:r>
          </a:p>
        </p:txBody>
      </p:sp>
      <p:sp>
        <p:nvSpPr>
          <p:cNvPr id="1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DC996241-01D3-44AA-9FF0-D2DB421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0272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2026-06-28T19:36:23.8900000Z</dcterms:created>
  <dcterms:modified xsi:type="dcterms:W3CDTF">2026-06-28T19:36:23.8900000Z</dcterms:modified>
</coreProperties>
</file>